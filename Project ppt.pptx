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Garet Bold" charset="1" panose="00000000000000000000"/>
      <p:regular r:id="rId26"/>
    </p:embeddedFont>
    <p:embeddedFont>
      <p:font typeface="Garet" charset="1" panose="00000000000000000000"/>
      <p:regular r:id="rId27"/>
    </p:embeddedFont>
    <p:embeddedFont>
      <p:font typeface="Arimo" charset="1" panose="020B06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/khushikyad001/ai-impact-on-jobs-2030%20https:/papers.ssrn.com/sol3/Delivery.cfm/5213331.pdf?abstractid=5213331&amp;mirid=1https://app.eraser.io/team/create%20(for%20flowchart)https://www.geeksforgeeks.org/machine-learning/best-python-libraries-for-machine-learning/" TargetMode="External" Type="http://schemas.openxmlformats.org/officeDocument/2006/relationships/hyperlink"/><Relationship Id="rId3" Target="https://www.kaggle.com/datasets/khushikyad001/ai-impact-on-jobs-2030%20https:/papers.ssrn.com/sol3/Delivery.cfm/5213331.pdf?abstractid=5213331&amp;mirid=1https://app.eraser.io/team/create%20(for%20flowchart)https://www.geeksforgeeks.org/machine-learning/best-python-libraries-for-machine-learning/" TargetMode="External" Type="http://schemas.openxmlformats.org/officeDocument/2006/relationships/hyperlink"/><Relationship Id="rId4" Target="https://www.kaggle.com/datasets/khushikyad001/ai-impact-on-jobs-2030%20https:/papers.ssrn.com/sol3/Delivery.cfm/5213331.pdf?abstractid=5213331&amp;mirid=1https://app.eraser.io/team/create%20(for%20flowchart)https://www.geeksforgeeks.org/machine-learning/best-python-libraries-for-machine-learning/" TargetMode="External" Type="http://schemas.openxmlformats.org/officeDocument/2006/relationships/hyperlink"/><Relationship Id="rId5" Target="https://www.kaggle.com/datasets/khushikyad001/ai-impact-on-jobs-2030%20https:/papers.ssrn.com/sol3/Delivery.cfm/5213331.pdf?abstractid=5213331&amp;mirid=1https://app.eraser.io/team/create%20(for%20flowchart)https://www.geeksforgeeks.org/machine-learning/best-python-libraries-for-machine-learning/" TargetMode="External" Type="http://schemas.openxmlformats.org/officeDocument/2006/relationships/hyperlink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140065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84897" y="5379918"/>
            <a:ext cx="6059445" cy="605944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20762" y="6964430"/>
            <a:ext cx="2000810" cy="4114800"/>
          </a:xfrm>
          <a:custGeom>
            <a:avLst/>
            <a:gdLst/>
            <a:ahLst/>
            <a:cxnLst/>
            <a:rect r="r" b="b" t="t" l="l"/>
            <a:pathLst>
              <a:path h="4114800" w="200081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4881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373132" y="360429"/>
            <a:ext cx="12198237" cy="3936999"/>
            <a:chOff x="0" y="0"/>
            <a:chExt cx="3212705" cy="10369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12704" cy="1036905"/>
            </a:xfrm>
            <a:custGeom>
              <a:avLst/>
              <a:gdLst/>
              <a:ahLst/>
              <a:cxnLst/>
              <a:rect r="r" b="b" t="t" l="l"/>
              <a:pathLst>
                <a:path h="1036905" w="3212704">
                  <a:moveTo>
                    <a:pt x="0" y="0"/>
                  </a:moveTo>
                  <a:lnTo>
                    <a:pt x="3212704" y="0"/>
                  </a:lnTo>
                  <a:lnTo>
                    <a:pt x="3212704" y="1036905"/>
                  </a:lnTo>
                  <a:lnTo>
                    <a:pt x="0" y="1036905"/>
                  </a:lnTo>
                  <a:close/>
                </a:path>
              </a:pathLst>
            </a:custGeom>
            <a:solidFill>
              <a:srgbClr val="FFFE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0"/>
              <a:ext cx="3212705" cy="1227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9"/>
                </a:lnSpc>
              </a:pPr>
              <a:r>
                <a:rPr lang="en-US" b="true" sz="99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PYTHON MINI PROJECT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049333" y="4296338"/>
            <a:ext cx="8845835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168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AI IMPACT ON JOBS BY 2030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sz="3000" spc="168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1262252045 – Pournami Roy</a:t>
            </a:r>
          </a:p>
          <a:p>
            <a:pPr algn="ctr">
              <a:lnSpc>
                <a:spcPts val="4200"/>
              </a:lnSpc>
            </a:pPr>
            <a:r>
              <a:rPr lang="en-US" sz="3000" spc="168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1262253274 – Tanishka Tiwari </a:t>
            </a:r>
          </a:p>
          <a:p>
            <a:pPr algn="ctr">
              <a:lnSpc>
                <a:spcPts val="4200"/>
              </a:lnSpc>
            </a:pPr>
            <a:r>
              <a:rPr lang="en-US" sz="3000" spc="168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1262252891 – Palak Soni</a:t>
            </a:r>
          </a:p>
          <a:p>
            <a:pPr algn="ctr">
              <a:lnSpc>
                <a:spcPts val="4200"/>
              </a:lnSpc>
            </a:pPr>
            <a:r>
              <a:rPr lang="en-US" sz="3000" spc="168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1262250376 –Vrukshita Vinod </a:t>
            </a:r>
          </a:p>
          <a:p>
            <a:pPr algn="ctr">
              <a:lnSpc>
                <a:spcPts val="4200"/>
              </a:lnSpc>
            </a:pPr>
            <a:r>
              <a:rPr lang="en-US" sz="3000" spc="168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1262252177 –Prachiti Suryawanshi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  <a:r>
              <a:rPr lang="en-US" b="true" sz="3000" spc="168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Python Programming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168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Prof. Vidya Patil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9965724" y="-1383136"/>
            <a:ext cx="10994424" cy="109944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5497212" y="-353712"/>
            <a:ext cx="10994424" cy="109944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76337" y="-5607552"/>
            <a:ext cx="10994424" cy="109944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6082" y="1952203"/>
            <a:ext cx="992463" cy="992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8235" y="4447339"/>
            <a:ext cx="508158" cy="547077"/>
            <a:chOff x="0" y="0"/>
            <a:chExt cx="812800" cy="875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8235" y="3107362"/>
            <a:ext cx="508158" cy="547077"/>
            <a:chOff x="0" y="0"/>
            <a:chExt cx="812800" cy="875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8235" y="5115753"/>
            <a:ext cx="508158" cy="547077"/>
            <a:chOff x="0" y="0"/>
            <a:chExt cx="812800" cy="875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8235" y="3776486"/>
            <a:ext cx="508158" cy="547077"/>
            <a:chOff x="0" y="0"/>
            <a:chExt cx="812800" cy="8750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8235" y="6455730"/>
            <a:ext cx="508158" cy="547077"/>
            <a:chOff x="0" y="0"/>
            <a:chExt cx="812800" cy="8750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8235" y="5784877"/>
            <a:ext cx="508158" cy="547077"/>
            <a:chOff x="0" y="0"/>
            <a:chExt cx="812800" cy="8750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416164" y="3726120"/>
            <a:ext cx="12920347" cy="401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8"/>
              </a:lnSpc>
            </a:pPr>
            <a:r>
              <a:rPr lang="en-US" sz="3466" spc="-325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By 2030, AI is expected to reshape the global workforce, automating up to one-third of existing jobs and transforming many others.</a:t>
            </a:r>
          </a:p>
          <a:p>
            <a:pPr algn="l">
              <a:lnSpc>
                <a:spcPts val="5338"/>
              </a:lnSpc>
            </a:pPr>
            <a:r>
              <a:rPr lang="en-US" sz="3466" spc="-325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This project analyses a dataset of 3,000 job records to uncover patterns in automation risk, AI exposure, and skill requirements that will affect professions.</a:t>
            </a:r>
          </a:p>
          <a:p>
            <a:pPr algn="l">
              <a:lnSpc>
                <a:spcPts val="5338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195372" y="1021991"/>
            <a:ext cx="13897257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spc="45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48235" y="7123361"/>
            <a:ext cx="508158" cy="547077"/>
            <a:chOff x="0" y="0"/>
            <a:chExt cx="812800" cy="8750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3945801">
            <a:off x="11868535" y="8125500"/>
            <a:ext cx="4776403" cy="477640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3945801">
            <a:off x="12156571" y="7154038"/>
            <a:ext cx="1577153" cy="3243522"/>
          </a:xfrm>
          <a:custGeom>
            <a:avLst/>
            <a:gdLst/>
            <a:ahLst/>
            <a:cxnLst/>
            <a:rect r="r" b="b" t="t" l="l"/>
            <a:pathLst>
              <a:path h="3243522" w="1577153">
                <a:moveTo>
                  <a:pt x="0" y="0"/>
                </a:moveTo>
                <a:lnTo>
                  <a:pt x="1577154" y="0"/>
                </a:lnTo>
                <a:lnTo>
                  <a:pt x="1577154" y="3243523"/>
                </a:lnTo>
                <a:lnTo>
                  <a:pt x="0" y="324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04881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973833">
            <a:off x="15740724" y="4626938"/>
            <a:ext cx="2660764" cy="3271778"/>
            <a:chOff x="0" y="0"/>
            <a:chExt cx="3547686" cy="4362370"/>
          </a:xfrm>
        </p:grpSpPr>
        <p:pic>
          <p:nvPicPr>
            <p:cNvPr name="Picture 40" id="40"/>
            <p:cNvPicPr>
              <a:picLocks noChangeAspect="true"/>
            </p:cNvPicPr>
            <p:nvPr/>
          </p:nvPicPr>
          <p:blipFill>
            <a:blip r:embed="rId4"/>
            <a:srcRect l="0" t="11872" r="0" b="6203"/>
            <a:stretch>
              <a:fillRect/>
            </a:stretch>
          </p:blipFill>
          <p:spPr>
            <a:xfrm flipH="false" flipV="false">
              <a:off x="0" y="0"/>
              <a:ext cx="3547686" cy="4362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82580" y="-3503638"/>
            <a:ext cx="12753441" cy="127534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61950" cap="sq">
              <a:solidFill>
                <a:srgbClr val="FD6220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509" y="4428296"/>
            <a:ext cx="508158" cy="547077"/>
            <a:chOff x="0" y="0"/>
            <a:chExt cx="812800" cy="875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1509" y="5094059"/>
            <a:ext cx="508158" cy="547077"/>
            <a:chOff x="0" y="0"/>
            <a:chExt cx="812800" cy="875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509" y="3762533"/>
            <a:ext cx="508158" cy="547077"/>
            <a:chOff x="0" y="0"/>
            <a:chExt cx="812800" cy="875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509" y="6425585"/>
            <a:ext cx="508158" cy="547077"/>
            <a:chOff x="0" y="0"/>
            <a:chExt cx="812800" cy="875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1509" y="5759822"/>
            <a:ext cx="508158" cy="547077"/>
            <a:chOff x="0" y="0"/>
            <a:chExt cx="812800" cy="8750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1509" y="7093216"/>
            <a:ext cx="508158" cy="547077"/>
            <a:chOff x="0" y="0"/>
            <a:chExt cx="812800" cy="8750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1509" y="7760846"/>
            <a:ext cx="508158" cy="547077"/>
            <a:chOff x="0" y="0"/>
            <a:chExt cx="812800" cy="8750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126549" y="808600"/>
            <a:ext cx="1011627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Objectives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24435" y="3028580"/>
            <a:ext cx="13982509" cy="533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2874" spc="7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1. Perform exploratory data analysis to understand job patterns, automation risk, and skill structures.</a:t>
            </a:r>
          </a:p>
          <a:p>
            <a:pPr algn="l">
              <a:lnSpc>
                <a:spcPts val="3881"/>
              </a:lnSpc>
            </a:pPr>
            <a:r>
              <a:rPr lang="en-US" sz="2874" spc="7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2. Categorise job roles by automation risk (High/Medium/Low)</a:t>
            </a:r>
          </a:p>
          <a:p>
            <a:pPr algn="l">
              <a:lnSpc>
                <a:spcPts val="3881"/>
              </a:lnSpc>
            </a:pPr>
            <a:r>
              <a:rPr lang="en-US" sz="2874" spc="7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3. Identify relationships among AI exposure, education, experience, and job security.</a:t>
            </a:r>
          </a:p>
          <a:p>
            <a:pPr algn="l">
              <a:lnSpc>
                <a:spcPts val="3881"/>
              </a:lnSpc>
            </a:pPr>
            <a:r>
              <a:rPr lang="en-US" sz="2874" spc="7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4. Communicate insights using clear and effective visualisations</a:t>
            </a:r>
          </a:p>
          <a:p>
            <a:pPr algn="l">
              <a:lnSpc>
                <a:spcPts val="3881"/>
              </a:lnSpc>
            </a:pPr>
            <a:r>
              <a:rPr lang="en-US" sz="2874" spc="7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5. Clean and prepare the dataset for analysis</a:t>
            </a:r>
          </a:p>
          <a:p>
            <a:pPr algn="l">
              <a:lnSpc>
                <a:spcPts val="3881"/>
              </a:lnSpc>
            </a:pPr>
            <a:r>
              <a:rPr lang="en-US" sz="2874" spc="7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6. Engineer relevant features (e.g., total skills required)</a:t>
            </a:r>
          </a:p>
          <a:p>
            <a:pPr algn="l">
              <a:lnSpc>
                <a:spcPts val="3881"/>
              </a:lnSpc>
            </a:pPr>
            <a:r>
              <a:rPr lang="en-US" sz="2874" spc="7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7. Compare trends across job titles, education levels, and risk groups.</a:t>
            </a:r>
          </a:p>
          <a:p>
            <a:pPr algn="l">
              <a:lnSpc>
                <a:spcPts val="3881"/>
              </a:lnSpc>
            </a:pPr>
            <a:r>
              <a:rPr lang="en-US" sz="2874" spc="71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8. Provide data-driven recommendations for workforce planning.</a:t>
            </a:r>
          </a:p>
          <a:p>
            <a:pPr algn="l" marL="0" indent="0" lvl="0">
              <a:lnSpc>
                <a:spcPts val="3881"/>
              </a:lnSpc>
              <a:spcBef>
                <a:spcPct val="0"/>
              </a:spcBef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706082" y="1952203"/>
            <a:ext cx="992463" cy="99246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8235" y="3107362"/>
            <a:ext cx="508158" cy="547077"/>
            <a:chOff x="0" y="0"/>
            <a:chExt cx="812800" cy="8750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094173" y="108075"/>
            <a:ext cx="5733498" cy="2836591"/>
            <a:chOff x="0" y="0"/>
            <a:chExt cx="7644664" cy="3782121"/>
          </a:xfrm>
        </p:grpSpPr>
        <p:pic>
          <p:nvPicPr>
            <p:cNvPr name="Picture 39" id="39"/>
            <p:cNvPicPr>
              <a:picLocks noChangeAspect="true"/>
            </p:cNvPicPr>
            <p:nvPr/>
          </p:nvPicPr>
          <p:blipFill>
            <a:blip r:embed="rId2"/>
            <a:srcRect l="0" t="277" r="0" b="277"/>
            <a:stretch>
              <a:fillRect/>
            </a:stretch>
          </p:blipFill>
          <p:spPr>
            <a:xfrm flipH="false" flipV="false">
              <a:off x="0" y="0"/>
              <a:ext cx="7644664" cy="37821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1509" y="4428296"/>
            <a:ext cx="508158" cy="547077"/>
            <a:chOff x="0" y="0"/>
            <a:chExt cx="812800" cy="8750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509" y="1982349"/>
            <a:ext cx="508158" cy="547077"/>
            <a:chOff x="0" y="0"/>
            <a:chExt cx="812800" cy="875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1509" y="5094059"/>
            <a:ext cx="508158" cy="547077"/>
            <a:chOff x="0" y="0"/>
            <a:chExt cx="812800" cy="875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509" y="6425585"/>
            <a:ext cx="508158" cy="547077"/>
            <a:chOff x="0" y="0"/>
            <a:chExt cx="812800" cy="875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509" y="5759822"/>
            <a:ext cx="508158" cy="547077"/>
            <a:chOff x="0" y="0"/>
            <a:chExt cx="812800" cy="875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994763" y="1028700"/>
            <a:ext cx="1436473" cy="3317308"/>
            <a:chOff x="0" y="0"/>
            <a:chExt cx="1915297" cy="4423077"/>
          </a:xfrm>
        </p:grpSpPr>
        <p:sp>
          <p:nvSpPr>
            <p:cNvPr name="AutoShape 21" id="21"/>
            <p:cNvSpPr/>
            <p:nvPr/>
          </p:nvSpPr>
          <p:spPr>
            <a:xfrm>
              <a:off x="0" y="0"/>
              <a:ext cx="1915297" cy="4423077"/>
            </a:xfrm>
            <a:prstGeom prst="rect">
              <a:avLst/>
            </a:prstGeom>
            <a:solidFill>
              <a:srgbClr val="FD622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51509" y="7093216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1509" y="7760846"/>
            <a:ext cx="508158" cy="547077"/>
            <a:chOff x="0" y="0"/>
            <a:chExt cx="812800" cy="8750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39471" y="8737362"/>
            <a:ext cx="3697059" cy="369705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2363230" y="5768999"/>
            <a:ext cx="11301259" cy="3983694"/>
          </a:xfrm>
          <a:custGeom>
            <a:avLst/>
            <a:gdLst/>
            <a:ahLst/>
            <a:cxnLst/>
            <a:rect r="r" b="b" t="t" l="l"/>
            <a:pathLst>
              <a:path h="3983694" w="11301259">
                <a:moveTo>
                  <a:pt x="0" y="0"/>
                </a:moveTo>
                <a:lnTo>
                  <a:pt x="11301259" y="0"/>
                </a:lnTo>
                <a:lnTo>
                  <a:pt x="11301259" y="3983694"/>
                </a:lnTo>
                <a:lnTo>
                  <a:pt x="0" y="398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363230" y="3404119"/>
            <a:ext cx="11301259" cy="2048353"/>
          </a:xfrm>
          <a:custGeom>
            <a:avLst/>
            <a:gdLst/>
            <a:ahLst/>
            <a:cxnLst/>
            <a:rect r="r" b="b" t="t" l="l"/>
            <a:pathLst>
              <a:path h="2048353" w="11301259">
                <a:moveTo>
                  <a:pt x="0" y="0"/>
                </a:moveTo>
                <a:lnTo>
                  <a:pt x="11301259" y="0"/>
                </a:lnTo>
                <a:lnTo>
                  <a:pt x="11301259" y="2048353"/>
                </a:lnTo>
                <a:lnTo>
                  <a:pt x="0" y="2048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126549" y="658136"/>
            <a:ext cx="10047011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Methodology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63230" y="2384467"/>
            <a:ext cx="6084042" cy="539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150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Tools and Libraries Used:-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09357" y="2687354"/>
            <a:ext cx="992463" cy="99246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1509" y="3762533"/>
            <a:ext cx="508158" cy="547077"/>
            <a:chOff x="0" y="0"/>
            <a:chExt cx="812800" cy="8750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4120" y="866775"/>
            <a:ext cx="13600996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Dataset Description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54182" y="2491326"/>
            <a:ext cx="15144886" cy="753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7"/>
              </a:lnSpc>
            </a:pPr>
            <a:r>
              <a:rPr lang="en-US" sz="18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Overview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Comprehensive dataset analysing AI's impact on employment across 20 distinct job titles, featuring 3,000 records with 18 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attributes spanning job characteristics, AI exposure metrics, and skill assessments.</a:t>
            </a:r>
          </a:p>
          <a:p>
            <a:pPr algn="l">
              <a:lnSpc>
                <a:spcPts val="2607"/>
              </a:lnSpc>
            </a:pPr>
          </a:p>
          <a:p>
            <a:pPr algn="l">
              <a:lnSpc>
                <a:spcPts val="2607"/>
              </a:lnSpc>
            </a:pPr>
            <a:r>
              <a:rPr lang="en-US" sz="18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Dimensions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Records: 3,000 job profiles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Attributes: 18 columns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Job Categories: 20 unique positions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Quality: 100% complete (zero missing values)</a:t>
            </a:r>
          </a:p>
          <a:p>
            <a:pPr algn="l">
              <a:lnSpc>
                <a:spcPts val="2607"/>
              </a:lnSpc>
            </a:pPr>
          </a:p>
          <a:p>
            <a:pPr algn="l">
              <a:lnSpc>
                <a:spcPts val="2607"/>
              </a:lnSpc>
            </a:pPr>
            <a:r>
              <a:rPr lang="en-US" sz="18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Core Metrics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Salary Range: $30,030 – $149,798 (avg: $89,372)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Experience: 0–29 years (avg: 14.7 years)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Education: 4 levels (High School, Bachelor's, Master's, PhD)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 Exposure Index: 0.0–1.0 (avg: 0.50)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Automation Risk by 2030: 5%–95% probability</a:t>
            </a:r>
          </a:p>
          <a:p>
            <a:pPr algn="l">
              <a:lnSpc>
                <a:spcPts val="2607"/>
              </a:lnSpc>
            </a:pPr>
          </a:p>
          <a:p>
            <a:pPr algn="l">
              <a:lnSpc>
                <a:spcPts val="2607"/>
              </a:lnSpc>
            </a:pPr>
            <a:r>
              <a:rPr lang="en-US" sz="18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Risk Classification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3 categories: Low, Medium, High automation risk</a:t>
            </a:r>
          </a:p>
          <a:p>
            <a:pPr algn="l">
              <a:lnSpc>
                <a:spcPts val="2607"/>
              </a:lnSpc>
            </a:pPr>
          </a:p>
          <a:p>
            <a:pPr algn="l">
              <a:lnSpc>
                <a:spcPts val="2607"/>
              </a:lnSpc>
            </a:pPr>
            <a:r>
              <a:rPr lang="en-US" sz="18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Skill Assessment</a:t>
            </a: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2607"/>
              </a:lnSpc>
            </a:pPr>
            <a:r>
              <a:rPr lang="en-US" sz="18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10 competency scores (0.0–1.0) measuring technical &amp; soft skills</a:t>
            </a:r>
          </a:p>
          <a:p>
            <a:pPr algn="l">
              <a:lnSpc>
                <a:spcPts val="260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1509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1509" y="5094059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1509" y="264811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1509" y="6425585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1509" y="5759822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1509" y="7093216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1509" y="7760846"/>
            <a:ext cx="508158" cy="547077"/>
            <a:chOff x="0" y="0"/>
            <a:chExt cx="812800" cy="8750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9357" y="3320546"/>
            <a:ext cx="992463" cy="99246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1509" y="4428296"/>
            <a:ext cx="508158" cy="547077"/>
            <a:chOff x="0" y="0"/>
            <a:chExt cx="812800" cy="8750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9357" y="3991407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1509" y="3320505"/>
            <a:ext cx="508158" cy="547077"/>
            <a:chOff x="0" y="0"/>
            <a:chExt cx="812800" cy="875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1509" y="1987111"/>
            <a:ext cx="508158" cy="547077"/>
            <a:chOff x="0" y="0"/>
            <a:chExt cx="812800" cy="875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1509" y="2652874"/>
            <a:ext cx="508158" cy="547077"/>
            <a:chOff x="0" y="0"/>
            <a:chExt cx="812800" cy="875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509" y="6430348"/>
            <a:ext cx="508158" cy="547077"/>
            <a:chOff x="0" y="0"/>
            <a:chExt cx="812800" cy="875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1509" y="5764584"/>
            <a:ext cx="508158" cy="547077"/>
            <a:chOff x="0" y="0"/>
            <a:chExt cx="812800" cy="8750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1509" y="7088453"/>
            <a:ext cx="508158" cy="547077"/>
            <a:chOff x="0" y="0"/>
            <a:chExt cx="812800" cy="8750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1509" y="7756083"/>
            <a:ext cx="508158" cy="547077"/>
            <a:chOff x="0" y="0"/>
            <a:chExt cx="812800" cy="8750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2126549" y="1980270"/>
            <a:ext cx="11052385" cy="7722525"/>
          </a:xfrm>
          <a:custGeom>
            <a:avLst/>
            <a:gdLst/>
            <a:ahLst/>
            <a:cxnLst/>
            <a:rect r="r" b="b" t="t" l="l"/>
            <a:pathLst>
              <a:path h="7722525" w="11052385">
                <a:moveTo>
                  <a:pt x="0" y="0"/>
                </a:moveTo>
                <a:lnTo>
                  <a:pt x="11052385" y="0"/>
                </a:lnTo>
                <a:lnTo>
                  <a:pt x="11052385" y="7722525"/>
                </a:lnTo>
                <a:lnTo>
                  <a:pt x="0" y="7722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" r="0" b="-91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126549" y="460318"/>
            <a:ext cx="12326866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Functions used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1509" y="5094059"/>
            <a:ext cx="508158" cy="547077"/>
            <a:chOff x="0" y="0"/>
            <a:chExt cx="812800" cy="8750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41" y="6425585"/>
            <a:ext cx="508158" cy="547077"/>
            <a:chOff x="0" y="0"/>
            <a:chExt cx="812800" cy="875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741" y="5117220"/>
            <a:ext cx="508158" cy="547077"/>
            <a:chOff x="0" y="0"/>
            <a:chExt cx="812800" cy="8750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741" y="7093216"/>
            <a:ext cx="508158" cy="547077"/>
            <a:chOff x="0" y="0"/>
            <a:chExt cx="812800" cy="8750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2504421" y="309544"/>
            <a:ext cx="12874137" cy="9977456"/>
          </a:xfrm>
          <a:custGeom>
            <a:avLst/>
            <a:gdLst/>
            <a:ahLst/>
            <a:cxnLst/>
            <a:rect r="r" b="b" t="t" l="l"/>
            <a:pathLst>
              <a:path h="9977456" w="12874137">
                <a:moveTo>
                  <a:pt x="0" y="0"/>
                </a:moveTo>
                <a:lnTo>
                  <a:pt x="12874137" y="0"/>
                </a:lnTo>
                <a:lnTo>
                  <a:pt x="12874137" y="9977456"/>
                </a:lnTo>
                <a:lnTo>
                  <a:pt x="0" y="9977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709357" y="3991407"/>
            <a:ext cx="992463" cy="992463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1509" y="5764584"/>
            <a:ext cx="508158" cy="547077"/>
            <a:chOff x="0" y="0"/>
            <a:chExt cx="812800" cy="8750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588" y="4599709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741" y="5777903"/>
            <a:ext cx="508158" cy="547077"/>
            <a:chOff x="0" y="0"/>
            <a:chExt cx="812800" cy="8750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741" y="7093216"/>
            <a:ext cx="508158" cy="547077"/>
            <a:chOff x="0" y="0"/>
            <a:chExt cx="812800" cy="8750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126549" y="460318"/>
            <a:ext cx="12326866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Workflow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54182" y="2481801"/>
            <a:ext cx="7648759" cy="763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START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[SE</a:t>
            </a: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CTION 1] Import Required Libraries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[SECTION 2] Load &amp; Inspect Dataset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[SECTION</a:t>
            </a: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3] Data Cleaning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[SECTION 4]</a:t>
            </a: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Statistical Cleaning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</a:t>
            </a: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SECTION 5] Features</a:t>
            </a: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and Sorting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[S</a:t>
            </a: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ECTION 6] Grouping and Aggregation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↓</a:t>
            </a:r>
          </a:p>
          <a:p>
            <a:pPr algn="l">
              <a:lnSpc>
                <a:spcPts val="3727"/>
              </a:lnSpc>
            </a:pP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</a:t>
            </a:r>
            <a:r>
              <a:rPr lang="en-US" sz="2662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SECTION 7] Analysis and Insights</a:t>
            </a:r>
          </a:p>
          <a:p>
            <a:pPr algn="l">
              <a:lnSpc>
                <a:spcPts val="2607"/>
              </a:lnSpc>
            </a:pPr>
          </a:p>
          <a:p>
            <a:pPr algn="l">
              <a:lnSpc>
                <a:spcPts val="2607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16439471" y="8737362"/>
            <a:ext cx="3697059" cy="369705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7741" y="6425585"/>
            <a:ext cx="508158" cy="547077"/>
            <a:chOff x="0" y="0"/>
            <a:chExt cx="812800" cy="8750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588" y="5321905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741" y="6438193"/>
            <a:ext cx="508158" cy="547077"/>
            <a:chOff x="0" y="0"/>
            <a:chExt cx="812800" cy="8750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6313420" y="1028700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7170670" y="-178579"/>
            <a:ext cx="10994424" cy="1099442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7741" y="7093216"/>
            <a:ext cx="508158" cy="547077"/>
            <a:chOff x="0" y="0"/>
            <a:chExt cx="812800" cy="8750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6803077" y="1756697"/>
            <a:ext cx="4681846" cy="8122880"/>
          </a:xfrm>
          <a:custGeom>
            <a:avLst/>
            <a:gdLst/>
            <a:ahLst/>
            <a:cxnLst/>
            <a:rect r="r" b="b" t="t" l="l"/>
            <a:pathLst>
              <a:path h="8122880" w="4681846">
                <a:moveTo>
                  <a:pt x="0" y="0"/>
                </a:moveTo>
                <a:lnTo>
                  <a:pt x="4681846" y="0"/>
                </a:lnTo>
                <a:lnTo>
                  <a:pt x="4681846" y="8122880"/>
                </a:lnTo>
                <a:lnTo>
                  <a:pt x="0" y="8122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59" r="0" b="-8648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126549" y="705354"/>
            <a:ext cx="7917146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9000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Flowchart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588" y="5980011"/>
            <a:ext cx="992463" cy="992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741" y="7096299"/>
            <a:ext cx="508158" cy="547077"/>
            <a:chOff x="0" y="0"/>
            <a:chExt cx="812800" cy="8750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6313420" y="1028700"/>
            <a:ext cx="945880" cy="236470"/>
          </a:xfrm>
          <a:custGeom>
            <a:avLst/>
            <a:gdLst/>
            <a:ahLst/>
            <a:cxnLst/>
            <a:rect r="r" b="b" t="t" l="l"/>
            <a:pathLst>
              <a:path h="236470" w="94588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2519281" y="1735617"/>
            <a:ext cx="11325256" cy="4524185"/>
          </a:xfrm>
          <a:custGeom>
            <a:avLst/>
            <a:gdLst/>
            <a:ahLst/>
            <a:cxnLst/>
            <a:rect r="r" b="b" t="t" l="l"/>
            <a:pathLst>
              <a:path h="4524185" w="11325256">
                <a:moveTo>
                  <a:pt x="0" y="0"/>
                </a:moveTo>
                <a:lnTo>
                  <a:pt x="11325256" y="0"/>
                </a:lnTo>
                <a:lnTo>
                  <a:pt x="11325256" y="4524185"/>
                </a:lnTo>
                <a:lnTo>
                  <a:pt x="0" y="45241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7063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557381" y="5215600"/>
            <a:ext cx="10719872" cy="5042825"/>
          </a:xfrm>
          <a:custGeom>
            <a:avLst/>
            <a:gdLst/>
            <a:ahLst/>
            <a:cxnLst/>
            <a:rect r="r" b="b" t="t" l="l"/>
            <a:pathLst>
              <a:path h="5042825" w="10719872">
                <a:moveTo>
                  <a:pt x="0" y="0"/>
                </a:moveTo>
                <a:lnTo>
                  <a:pt x="10719872" y="0"/>
                </a:lnTo>
                <a:lnTo>
                  <a:pt x="10719872" y="5042825"/>
                </a:lnTo>
                <a:lnTo>
                  <a:pt x="0" y="5042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2186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519281" y="719262"/>
            <a:ext cx="5443901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900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Output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3074" y="264223"/>
            <a:ext cx="13518067" cy="5706938"/>
          </a:xfrm>
          <a:custGeom>
            <a:avLst/>
            <a:gdLst/>
            <a:ahLst/>
            <a:cxnLst/>
            <a:rect r="r" b="b" t="t" l="l"/>
            <a:pathLst>
              <a:path h="5706938" w="13518067">
                <a:moveTo>
                  <a:pt x="0" y="0"/>
                </a:moveTo>
                <a:lnTo>
                  <a:pt x="13518067" y="0"/>
                </a:lnTo>
                <a:lnTo>
                  <a:pt x="13518067" y="5706937"/>
                </a:lnTo>
                <a:lnTo>
                  <a:pt x="0" y="5706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2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3074" y="5622078"/>
            <a:ext cx="13518067" cy="4881838"/>
          </a:xfrm>
          <a:custGeom>
            <a:avLst/>
            <a:gdLst/>
            <a:ahLst/>
            <a:cxnLst/>
            <a:rect r="r" b="b" t="t" l="l"/>
            <a:pathLst>
              <a:path h="4881838" w="13518067">
                <a:moveTo>
                  <a:pt x="0" y="0"/>
                </a:moveTo>
                <a:lnTo>
                  <a:pt x="13518067" y="0"/>
                </a:lnTo>
                <a:lnTo>
                  <a:pt x="13518067" y="4881839"/>
                </a:lnTo>
                <a:lnTo>
                  <a:pt x="0" y="4881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27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5588" y="5980011"/>
            <a:ext cx="992463" cy="9924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7741" y="7096299"/>
            <a:ext cx="508158" cy="547077"/>
            <a:chOff x="0" y="0"/>
            <a:chExt cx="812800" cy="8750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4837" y="-49184"/>
            <a:ext cx="13411523" cy="9470616"/>
          </a:xfrm>
          <a:custGeom>
            <a:avLst/>
            <a:gdLst/>
            <a:ahLst/>
            <a:cxnLst/>
            <a:rect r="r" b="b" t="t" l="l"/>
            <a:pathLst>
              <a:path h="9470616" w="13411523">
                <a:moveTo>
                  <a:pt x="0" y="0"/>
                </a:moveTo>
                <a:lnTo>
                  <a:pt x="13411523" y="0"/>
                </a:lnTo>
                <a:lnTo>
                  <a:pt x="13411523" y="9470616"/>
                </a:lnTo>
                <a:lnTo>
                  <a:pt x="0" y="9470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3" t="0" r="-14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5588" y="5980011"/>
            <a:ext cx="992463" cy="99246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7741" y="7096299"/>
            <a:ext cx="508158" cy="547077"/>
            <a:chOff x="0" y="0"/>
            <a:chExt cx="812800" cy="8750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374837" y="5592172"/>
            <a:ext cx="14237138" cy="4412273"/>
          </a:xfrm>
          <a:custGeom>
            <a:avLst/>
            <a:gdLst/>
            <a:ahLst/>
            <a:cxnLst/>
            <a:rect r="r" b="b" t="t" l="l"/>
            <a:pathLst>
              <a:path h="4412273" w="14237138">
                <a:moveTo>
                  <a:pt x="0" y="0"/>
                </a:moveTo>
                <a:lnTo>
                  <a:pt x="14237139" y="0"/>
                </a:lnTo>
                <a:lnTo>
                  <a:pt x="14237139" y="4412273"/>
                </a:lnTo>
                <a:lnTo>
                  <a:pt x="0" y="4412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3" t="-3926" r="-1342" b="-6312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55206" y="251630"/>
            <a:ext cx="13370504" cy="8179462"/>
          </a:xfrm>
          <a:custGeom>
            <a:avLst/>
            <a:gdLst/>
            <a:ahLst/>
            <a:cxnLst/>
            <a:rect r="r" b="b" t="t" l="l"/>
            <a:pathLst>
              <a:path h="8179462" w="13370504">
                <a:moveTo>
                  <a:pt x="0" y="0"/>
                </a:moveTo>
                <a:lnTo>
                  <a:pt x="13370504" y="0"/>
                </a:lnTo>
                <a:lnTo>
                  <a:pt x="13370504" y="8179462"/>
                </a:lnTo>
                <a:lnTo>
                  <a:pt x="0" y="8179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55206" y="4963400"/>
            <a:ext cx="14196266" cy="5323600"/>
          </a:xfrm>
          <a:custGeom>
            <a:avLst/>
            <a:gdLst/>
            <a:ahLst/>
            <a:cxnLst/>
            <a:rect r="r" b="b" t="t" l="l"/>
            <a:pathLst>
              <a:path h="5323600" w="14196266">
                <a:moveTo>
                  <a:pt x="0" y="0"/>
                </a:moveTo>
                <a:lnTo>
                  <a:pt x="14196266" y="0"/>
                </a:lnTo>
                <a:lnTo>
                  <a:pt x="14196266" y="5323600"/>
                </a:lnTo>
                <a:lnTo>
                  <a:pt x="0" y="532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5588" y="5980011"/>
            <a:ext cx="992463" cy="9924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7741" y="7096299"/>
            <a:ext cx="508158" cy="547077"/>
            <a:chOff x="0" y="0"/>
            <a:chExt cx="812800" cy="8750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8429" y="215051"/>
            <a:ext cx="10259728" cy="6194129"/>
          </a:xfrm>
          <a:custGeom>
            <a:avLst/>
            <a:gdLst/>
            <a:ahLst/>
            <a:cxnLst/>
            <a:rect r="r" b="b" t="t" l="l"/>
            <a:pathLst>
              <a:path h="6194129" w="10259728">
                <a:moveTo>
                  <a:pt x="0" y="0"/>
                </a:moveTo>
                <a:lnTo>
                  <a:pt x="10259727" y="0"/>
                </a:lnTo>
                <a:lnTo>
                  <a:pt x="10259727" y="6194129"/>
                </a:lnTo>
                <a:lnTo>
                  <a:pt x="0" y="6194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59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08429" y="6253992"/>
            <a:ext cx="10730142" cy="3952678"/>
          </a:xfrm>
          <a:custGeom>
            <a:avLst/>
            <a:gdLst/>
            <a:ahLst/>
            <a:cxnLst/>
            <a:rect r="r" b="b" t="t" l="l"/>
            <a:pathLst>
              <a:path h="3952678" w="10730142">
                <a:moveTo>
                  <a:pt x="0" y="0"/>
                </a:moveTo>
                <a:lnTo>
                  <a:pt x="10730142" y="0"/>
                </a:lnTo>
                <a:lnTo>
                  <a:pt x="10730142" y="3952678"/>
                </a:lnTo>
                <a:lnTo>
                  <a:pt x="0" y="3952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487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5588" y="5980011"/>
            <a:ext cx="992463" cy="9924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7741" y="7096299"/>
            <a:ext cx="508158" cy="547077"/>
            <a:chOff x="0" y="0"/>
            <a:chExt cx="812800" cy="8750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80245" y="442582"/>
            <a:ext cx="14679055" cy="7704022"/>
          </a:xfrm>
          <a:custGeom>
            <a:avLst/>
            <a:gdLst/>
            <a:ahLst/>
            <a:cxnLst/>
            <a:rect r="r" b="b" t="t" l="l"/>
            <a:pathLst>
              <a:path h="7704022" w="14679055">
                <a:moveTo>
                  <a:pt x="0" y="0"/>
                </a:moveTo>
                <a:lnTo>
                  <a:pt x="14679055" y="0"/>
                </a:lnTo>
                <a:lnTo>
                  <a:pt x="14679055" y="7704022"/>
                </a:lnTo>
                <a:lnTo>
                  <a:pt x="0" y="7704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6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80245" y="8005809"/>
            <a:ext cx="14679055" cy="1268459"/>
          </a:xfrm>
          <a:custGeom>
            <a:avLst/>
            <a:gdLst/>
            <a:ahLst/>
            <a:cxnLst/>
            <a:rect r="r" b="b" t="t" l="l"/>
            <a:pathLst>
              <a:path h="1268459" w="14679055">
                <a:moveTo>
                  <a:pt x="0" y="0"/>
                </a:moveTo>
                <a:lnTo>
                  <a:pt x="14679055" y="0"/>
                </a:lnTo>
                <a:lnTo>
                  <a:pt x="14679055" y="1268459"/>
                </a:lnTo>
                <a:lnTo>
                  <a:pt x="0" y="1268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662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5588" y="5980011"/>
            <a:ext cx="992463" cy="9924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7741" y="7096299"/>
            <a:ext cx="508158" cy="547077"/>
            <a:chOff x="0" y="0"/>
            <a:chExt cx="812800" cy="8750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3645" y="6924494"/>
            <a:ext cx="12128635" cy="2512484"/>
          </a:xfrm>
          <a:custGeom>
            <a:avLst/>
            <a:gdLst/>
            <a:ahLst/>
            <a:cxnLst/>
            <a:rect r="r" b="b" t="t" l="l"/>
            <a:pathLst>
              <a:path h="2512484" w="12128635">
                <a:moveTo>
                  <a:pt x="0" y="0"/>
                </a:moveTo>
                <a:lnTo>
                  <a:pt x="12128636" y="0"/>
                </a:lnTo>
                <a:lnTo>
                  <a:pt x="12128636" y="2512484"/>
                </a:lnTo>
                <a:lnTo>
                  <a:pt x="0" y="2512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36" r="-6828" b="-25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11132" y="266182"/>
            <a:ext cx="11364965" cy="6763087"/>
          </a:xfrm>
          <a:custGeom>
            <a:avLst/>
            <a:gdLst/>
            <a:ahLst/>
            <a:cxnLst/>
            <a:rect r="r" b="b" t="t" l="l"/>
            <a:pathLst>
              <a:path h="6763087" w="11364965">
                <a:moveTo>
                  <a:pt x="0" y="0"/>
                </a:moveTo>
                <a:lnTo>
                  <a:pt x="11364965" y="0"/>
                </a:lnTo>
                <a:lnTo>
                  <a:pt x="11364965" y="6763087"/>
                </a:lnTo>
                <a:lnTo>
                  <a:pt x="0" y="6763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792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5588" y="5980011"/>
            <a:ext cx="992463" cy="9924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7741" y="7096299"/>
            <a:ext cx="508158" cy="547077"/>
            <a:chOff x="0" y="0"/>
            <a:chExt cx="812800" cy="8750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1589" y="212528"/>
            <a:ext cx="10203119" cy="6289596"/>
          </a:xfrm>
          <a:custGeom>
            <a:avLst/>
            <a:gdLst/>
            <a:ahLst/>
            <a:cxnLst/>
            <a:rect r="r" b="b" t="t" l="l"/>
            <a:pathLst>
              <a:path h="6289596" w="10203119">
                <a:moveTo>
                  <a:pt x="0" y="0"/>
                </a:moveTo>
                <a:lnTo>
                  <a:pt x="10203119" y="0"/>
                </a:lnTo>
                <a:lnTo>
                  <a:pt x="10203119" y="6289596"/>
                </a:lnTo>
                <a:lnTo>
                  <a:pt x="0" y="6289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68" r="0" b="-606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15956" y="6622474"/>
            <a:ext cx="13530989" cy="3332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7"/>
              </a:lnSpc>
            </a:pP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Interpretation:</a:t>
            </a:r>
          </a:p>
          <a:p>
            <a:pPr algn="l">
              <a:lnSpc>
                <a:spcPts val="3027"/>
              </a:lnSpc>
            </a:pP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•Each</a:t>
            </a: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job has a distinct skill profile. No two jobs rely on the same combination of skills.</a:t>
            </a:r>
          </a:p>
          <a:p>
            <a:pPr algn="l">
              <a:lnSpc>
                <a:spcPts val="3027"/>
              </a:lnSpc>
            </a:pP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•Research Scientist and Financial Analyst have skills that peak very high</a:t>
            </a: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</a:t>
            </a: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certain categories, showing specialization.</a:t>
            </a:r>
          </a:p>
          <a:p>
            <a:pPr algn="l">
              <a:lnSpc>
                <a:spcPts val="3027"/>
              </a:lnSpc>
            </a:pP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</a:t>
            </a: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Construction Worker has the sharpest</a:t>
            </a: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contr</a:t>
            </a: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ast between a very high skill (</a:t>
            </a: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Skill_2)</a:t>
            </a: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and very low ones, showing focused skill dependency.</a:t>
            </a:r>
          </a:p>
          <a:p>
            <a:pPr algn="l">
              <a:lnSpc>
                <a:spcPts val="3027"/>
              </a:lnSpc>
            </a:pP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•Software Engineer has a more balanced skill distribution, especially across Skills 3-5.</a:t>
            </a:r>
          </a:p>
          <a:p>
            <a:pPr algn="l">
              <a:lnSpc>
                <a:spcPts val="3027"/>
              </a:lnSpc>
            </a:pPr>
            <a:r>
              <a:rPr lang="en-US" sz="216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•Security Guard shows moderate needs across most skills without extreme highs or lows.</a:t>
            </a:r>
          </a:p>
          <a:p>
            <a:pPr algn="l">
              <a:lnSpc>
                <a:spcPts val="232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5588" y="5980011"/>
            <a:ext cx="992463" cy="99246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7741" y="7096299"/>
            <a:ext cx="508158" cy="547077"/>
            <a:chOff x="0" y="0"/>
            <a:chExt cx="812800" cy="8750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91868" y="257175"/>
            <a:ext cx="8820343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900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5282" y="1656745"/>
            <a:ext cx="12497435" cy="8290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 is set to reshape roles far more than it will erase them. Roughly 50.7% of jobs are likely to be transformed, not simply eliminated, by new automation and augmentation tools.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Actionable recommendations</a:t>
            </a: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•Workers: Build complementary skill stacks such as coding/data literacy, critical thinking, creativity, and interpersonal skills. Pursue continuous micro-learning and cross-disciplinary experience to increase resilience.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</a:t>
            </a: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Employers: Invest in targeted upskilling, redesign jobs to pair human strengths with AI,</a:t>
            </a: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and create transition roles that capture new value (e.g., AI supervisors, data translators).</a:t>
            </a:r>
          </a:p>
          <a:p>
            <a:pPr algn="l">
              <a:lnSpc>
                <a:spcPts val="3252"/>
              </a:lnSpc>
            </a:pP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•Policymakers &amp; educators: Update curricula toward problem-solving, digital fluency, and lifelong learning pathways; fund retraining programs and safety nets to ease sectoral transitions.</a:t>
            </a:r>
          </a:p>
          <a:p>
            <a:pPr algn="l">
              <a:lnSpc>
                <a:spcPts val="3252"/>
              </a:lnSpc>
            </a:pPr>
          </a:p>
          <a:p>
            <a:pPr algn="l">
              <a:lnSpc>
                <a:spcPts val="3252"/>
              </a:lnSpc>
            </a:pPr>
            <a:r>
              <a:rPr lang="en-US" sz="2323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Bottom line</a:t>
            </a: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3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next decade favours adaptability. With timely investment in diverse skills, responsible deployment by organisations, and supportive public policy, AI can be a tool for role evolution and new opportunities rather than wholesale job loss.</a:t>
            </a:r>
          </a:p>
          <a:p>
            <a:pPr algn="l">
              <a:lnSpc>
                <a:spcPts val="1078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7741" y="5989536"/>
            <a:ext cx="508158" cy="547077"/>
            <a:chOff x="0" y="0"/>
            <a:chExt cx="812800" cy="8750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5588" y="6650913"/>
            <a:ext cx="992463" cy="992463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7741" y="7760846"/>
            <a:ext cx="508158" cy="547077"/>
            <a:chOff x="0" y="0"/>
            <a:chExt cx="812800" cy="8750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882580" y="-3503638"/>
            <a:ext cx="12753441" cy="1275344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61950" cap="sq">
              <a:solidFill>
                <a:srgbClr val="FD6220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384897" y="5379918"/>
            <a:ext cx="6059445" cy="605944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0632" y="1078189"/>
            <a:ext cx="8820343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900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Refrences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70632" y="2273031"/>
            <a:ext cx="13232300" cy="5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1027" indent="-455514" lvl="1">
              <a:lnSpc>
                <a:spcPts val="5907"/>
              </a:lnSpc>
              <a:buAutoNum type="arabicPeriod" startAt="1"/>
            </a:pPr>
            <a:r>
              <a:rPr lang="en-US" sz="421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  <a:hlinkClick r:id="rId2" tooltip="https://www.kaggle.com/datasets/khushikyad001/ai-impact-on-jobs-2030%20https:/papers.ssrn.com/sol3/Delivery.cfm/5213331.pdf?abstractid=5213331&amp;mirid=1https://app.eraser.io/team/create%20(for%20flowchart)https://www.geeksforgeeks.org/machine-learning/best-python-libraries-for-machine-learning/"/>
              </a:rPr>
              <a:t>https://www.kaggle.com/datasets/khushikyad001/ai-impact-on-jobs-2030</a:t>
            </a:r>
          </a:p>
          <a:p>
            <a:pPr algn="l" marL="911027" indent="-455514" lvl="1">
              <a:lnSpc>
                <a:spcPts val="5907"/>
              </a:lnSpc>
              <a:buAutoNum type="arabicPeriod" startAt="1"/>
            </a:pPr>
            <a:r>
              <a:rPr lang="en-US" sz="421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  <a:hlinkClick r:id="rId3" tooltip="https://www.kaggle.com/datasets/khushikyad001/ai-impact-on-jobs-2030%20https:/papers.ssrn.com/sol3/Delivery.cfm/5213331.pdf?abstractid=5213331&amp;mirid=1https://app.eraser.io/team/create%20(for%20flowchart)https://www.geeksforgeeks.org/machine-learning/best-python-libraries-for-machine-learning/"/>
              </a:rPr>
              <a:t>https:/papers.ssrn.com/sol3/Delivery.cfm/5213331.pdf?abstractid=5213331&amp;mirid=1</a:t>
            </a:r>
          </a:p>
          <a:p>
            <a:pPr algn="l" marL="911027" indent="-455514" lvl="1">
              <a:lnSpc>
                <a:spcPts val="5907"/>
              </a:lnSpc>
              <a:buAutoNum type="arabicPeriod" startAt="1"/>
            </a:pPr>
            <a:r>
              <a:rPr lang="en-US" sz="421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  <a:hlinkClick r:id="rId4" tooltip="https://www.kaggle.com/datasets/khushikyad001/ai-impact-on-jobs-2030%20https:/papers.ssrn.com/sol3/Delivery.cfm/5213331.pdf?abstractid=5213331&amp;mirid=1https://app.eraser.io/team/create%20(for%20flowchart)https://www.geeksforgeeks.org/machine-learning/best-python-libraries-for-machine-learning/"/>
              </a:rPr>
              <a:t>https://app.eraser.io/team/create (for flowchart)</a:t>
            </a:r>
          </a:p>
          <a:p>
            <a:pPr algn="l" marL="911027" indent="-455514" lvl="1">
              <a:lnSpc>
                <a:spcPts val="5907"/>
              </a:lnSpc>
              <a:buAutoNum type="arabicPeriod" startAt="1"/>
            </a:pPr>
            <a:r>
              <a:rPr lang="en-US" sz="4219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  <a:hlinkClick r:id="rId5" tooltip="https://www.kaggle.com/datasets/khushikyad001/ai-impact-on-jobs-2030%20https:/papers.ssrn.com/sol3/Delivery.cfm/5213331.pdf?abstractid=5213331&amp;mirid=1https://app.eraser.io/team/create%20(for%20flowchart)https://www.geeksforgeeks.org/machine-learning/best-python-libraries-for-machine-learning/"/>
              </a:rPr>
              <a:t>https://www.geeksforgeeks.org/machine-learning/best-python-libraries-for-machine-learning/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7741" y="1982349"/>
            <a:ext cx="508158" cy="547077"/>
            <a:chOff x="0" y="0"/>
            <a:chExt cx="812800" cy="8750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7741" y="2648112"/>
            <a:ext cx="508158" cy="547077"/>
            <a:chOff x="0" y="0"/>
            <a:chExt cx="812800" cy="8750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7741" y="3315742"/>
            <a:ext cx="508158" cy="547077"/>
            <a:chOff x="0" y="0"/>
            <a:chExt cx="812800" cy="8750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7741" y="3983373"/>
            <a:ext cx="508158" cy="547077"/>
            <a:chOff x="0" y="0"/>
            <a:chExt cx="812800" cy="875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7741" y="4651003"/>
            <a:ext cx="508158" cy="547077"/>
            <a:chOff x="0" y="0"/>
            <a:chExt cx="812800" cy="8750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7741" y="5318634"/>
            <a:ext cx="508158" cy="547077"/>
            <a:chOff x="0" y="0"/>
            <a:chExt cx="812800" cy="875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7741" y="5989536"/>
            <a:ext cx="508158" cy="547077"/>
            <a:chOff x="0" y="0"/>
            <a:chExt cx="812800" cy="8750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7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5588" y="7350673"/>
            <a:ext cx="992463" cy="992463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aret"/>
                  <a:ea typeface="Garet"/>
                  <a:cs typeface="Garet"/>
                  <a:sym typeface="Garet"/>
                </a:rPr>
                <a:t>9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77741" y="6670246"/>
            <a:ext cx="508158" cy="547077"/>
            <a:chOff x="0" y="0"/>
            <a:chExt cx="812800" cy="8750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75051"/>
            </a:xfrm>
            <a:custGeom>
              <a:avLst/>
              <a:gdLst/>
              <a:ahLst/>
              <a:cxnLst/>
              <a:rect r="r" b="b" t="t" l="l"/>
              <a:pathLst>
                <a:path h="875051" w="812800">
                  <a:moveTo>
                    <a:pt x="406400" y="0"/>
                  </a:moveTo>
                  <a:cubicBezTo>
                    <a:pt x="181951" y="0"/>
                    <a:pt x="0" y="195887"/>
                    <a:pt x="0" y="437526"/>
                  </a:cubicBezTo>
                  <a:cubicBezTo>
                    <a:pt x="0" y="679164"/>
                    <a:pt x="181951" y="875051"/>
                    <a:pt x="406400" y="875051"/>
                  </a:cubicBezTo>
                  <a:cubicBezTo>
                    <a:pt x="630849" y="875051"/>
                    <a:pt x="812800" y="679164"/>
                    <a:pt x="812800" y="437526"/>
                  </a:cubicBezTo>
                  <a:cubicBezTo>
                    <a:pt x="812800" y="1958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3461"/>
              <a:ext cx="660400" cy="739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aret"/>
                  <a:ea typeface="Garet"/>
                  <a:cs typeface="Garet"/>
                  <a:sym typeface="Garet"/>
                </a:rPr>
                <a:t>8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2196" y="1458236"/>
            <a:ext cx="1420236" cy="34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191919"/>
                </a:solidFill>
                <a:latin typeface="Garet"/>
                <a:ea typeface="Garet"/>
                <a:cs typeface="Garet"/>
                <a:sym typeface="Garet"/>
              </a:rPr>
              <a:t>SECTION</a:t>
            </a:r>
          </a:p>
        </p:txBody>
      </p:sp>
      <p:grpSp>
        <p:nvGrpSpPr>
          <p:cNvPr name="Group 35" id="35"/>
          <p:cNvGrpSpPr/>
          <p:nvPr/>
        </p:nvGrpSpPr>
        <p:grpSpPr>
          <a:xfrm rot="3945801">
            <a:off x="11868535" y="8125500"/>
            <a:ext cx="4776403" cy="477640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3945801">
            <a:off x="12156571" y="7154038"/>
            <a:ext cx="1577153" cy="3243522"/>
          </a:xfrm>
          <a:custGeom>
            <a:avLst/>
            <a:gdLst/>
            <a:ahLst/>
            <a:cxnLst/>
            <a:rect r="r" b="b" t="t" l="l"/>
            <a:pathLst>
              <a:path h="3243522" w="1577153">
                <a:moveTo>
                  <a:pt x="0" y="0"/>
                </a:moveTo>
                <a:lnTo>
                  <a:pt x="1577154" y="0"/>
                </a:lnTo>
                <a:lnTo>
                  <a:pt x="1577154" y="3243523"/>
                </a:lnTo>
                <a:lnTo>
                  <a:pt x="0" y="32435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204881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85505" y="6172200"/>
            <a:ext cx="1832956" cy="4114800"/>
          </a:xfrm>
          <a:custGeom>
            <a:avLst/>
            <a:gdLst/>
            <a:ahLst/>
            <a:cxnLst/>
            <a:rect r="r" b="b" t="t" l="l"/>
            <a:pathLst>
              <a:path h="4114800" w="1832956">
                <a:moveTo>
                  <a:pt x="0" y="0"/>
                </a:moveTo>
                <a:lnTo>
                  <a:pt x="1832957" y="0"/>
                </a:lnTo>
                <a:lnTo>
                  <a:pt x="18329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4328149" y="0"/>
            <a:ext cx="1832956" cy="4114800"/>
          </a:xfrm>
          <a:custGeom>
            <a:avLst/>
            <a:gdLst/>
            <a:ahLst/>
            <a:cxnLst/>
            <a:rect r="r" b="b" t="t" l="l"/>
            <a:pathLst>
              <a:path h="4114800" w="1832956">
                <a:moveTo>
                  <a:pt x="0" y="0"/>
                </a:moveTo>
                <a:lnTo>
                  <a:pt x="1832956" y="0"/>
                </a:lnTo>
                <a:lnTo>
                  <a:pt x="18329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7351755" y="-171109"/>
            <a:ext cx="3733138" cy="8023260"/>
          </a:xfrm>
          <a:custGeom>
            <a:avLst/>
            <a:gdLst/>
            <a:ahLst/>
            <a:cxnLst/>
            <a:rect r="r" b="b" t="t" l="l"/>
            <a:pathLst>
              <a:path h="8023260" w="3733138">
                <a:moveTo>
                  <a:pt x="0" y="0"/>
                </a:moveTo>
                <a:lnTo>
                  <a:pt x="3733138" y="0"/>
                </a:lnTo>
                <a:lnTo>
                  <a:pt x="3733138" y="8023260"/>
                </a:lnTo>
                <a:lnTo>
                  <a:pt x="0" y="8023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" r="-4304" b="-187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53335" y="3416891"/>
            <a:ext cx="10781330" cy="137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0"/>
              </a:lnSpc>
            </a:pPr>
            <a:r>
              <a:rPr lang="en-US" sz="11000" b="true">
                <a:solidFill>
                  <a:srgbClr val="191919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259300" y="3317189"/>
            <a:ext cx="3499668" cy="13405540"/>
            <a:chOff x="0" y="0"/>
            <a:chExt cx="212191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191" cy="812800"/>
            </a:xfrm>
            <a:custGeom>
              <a:avLst/>
              <a:gdLst/>
              <a:ahLst/>
              <a:cxnLst/>
              <a:rect r="r" b="b" t="t" l="l"/>
              <a:pathLst>
                <a:path h="812800" w="212191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DAG6WJHNNC8</dc:identifier>
  <dcterms:modified xsi:type="dcterms:W3CDTF">2011-08-01T06:04:30Z</dcterms:modified>
  <cp:revision>1</cp:revision>
  <dc:title>White and Orange Simple Portfolio Presentation</dc:title>
</cp:coreProperties>
</file>